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Montserrat SemiBold"/>
      <p:regular r:id="rId19"/>
      <p:bold r:id="rId20"/>
      <p:italic r:id="rId21"/>
      <p:boldItalic r:id="rId22"/>
    </p:embeddedFont>
    <p:embeddedFont>
      <p:font typeface="Montserrat"/>
      <p:regular r:id="rId23"/>
      <p:bold r:id="rId24"/>
      <p:italic r:id="rId25"/>
      <p:boldItalic r:id="rId26"/>
    </p:embeddedFont>
    <p:embeddedFont>
      <p:font typeface="Merriweather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4BAD7E1-3EAC-4560-9B80-7B1395F494D8}">
  <a:tblStyle styleId="{84BAD7E1-3EAC-4560-9B80-7B1395F494D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SemiBold-bold.fntdata"/><Relationship Id="rId22" Type="http://schemas.openxmlformats.org/officeDocument/2006/relationships/font" Target="fonts/MontserratSemiBold-boldItalic.fntdata"/><Relationship Id="rId21" Type="http://schemas.openxmlformats.org/officeDocument/2006/relationships/font" Target="fonts/MontserratSemiBold-italic.fntdata"/><Relationship Id="rId24" Type="http://schemas.openxmlformats.org/officeDocument/2006/relationships/font" Target="fonts/Montserrat-bold.fntdata"/><Relationship Id="rId23" Type="http://schemas.openxmlformats.org/officeDocument/2006/relationships/font" Target="fonts/Montserra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-boldItalic.fntdata"/><Relationship Id="rId25" Type="http://schemas.openxmlformats.org/officeDocument/2006/relationships/font" Target="fonts/Montserrat-italic.fntdata"/><Relationship Id="rId28" Type="http://schemas.openxmlformats.org/officeDocument/2006/relationships/font" Target="fonts/Merriweather-bold.fntdata"/><Relationship Id="rId27" Type="http://schemas.openxmlformats.org/officeDocument/2006/relationships/font" Target="fonts/Merriweather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erriweather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Merriweather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MontserratSemiBold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10.pn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3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28.png"/><Relationship Id="rId9" Type="http://schemas.openxmlformats.org/officeDocument/2006/relationships/image" Target="../media/image26.png"/><Relationship Id="rId5" Type="http://schemas.openxmlformats.org/officeDocument/2006/relationships/image" Target="../media/image12.png"/><Relationship Id="rId6" Type="http://schemas.openxmlformats.org/officeDocument/2006/relationships/image" Target="../media/image14.png"/><Relationship Id="rId7" Type="http://schemas.openxmlformats.org/officeDocument/2006/relationships/image" Target="../media/image13.png"/><Relationship Id="rId8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22.png"/><Relationship Id="rId6" Type="http://schemas.openxmlformats.org/officeDocument/2006/relationships/image" Target="../media/image24.png"/><Relationship Id="rId7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7.png"/><Relationship Id="rId5" Type="http://schemas.openxmlformats.org/officeDocument/2006/relationships/image" Target="../media/image20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png"/><Relationship Id="rId4" Type="http://schemas.openxmlformats.org/officeDocument/2006/relationships/image" Target="../media/image29.png"/><Relationship Id="rId5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4500" y="1355377"/>
            <a:ext cx="1143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400538" y="2917477"/>
            <a:ext cx="7390923" cy="1462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Communication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 Inter-Microcontrôleurs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576512" y="4570958"/>
            <a:ext cx="70389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Liaison Série Asynchrone &amp; Affichage Dynamique LCD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576512" y="5321498"/>
            <a:ext cx="70389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336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Auteur: Cenderson | Département STIC | INP-HB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/>
          <p:nvPr/>
        </p:nvSpPr>
        <p:spPr>
          <a:xfrm>
            <a:off x="5619750" y="2758380"/>
            <a:ext cx="952500" cy="571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2650569" y="3101280"/>
            <a:ext cx="6890861" cy="866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Contexte et Objectifs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66057"/>
            <a:ext cx="3555950" cy="29450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266057"/>
            <a:ext cx="3555950" cy="29450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266057"/>
            <a:ext cx="3555950" cy="294501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Objectifs Stratégiques du Projet</a:t>
            </a:r>
            <a:endParaRPr/>
          </a:p>
        </p:txBody>
      </p:sp>
      <p:sp>
        <p:nvSpPr>
          <p:cNvPr id="105" name="Google Shape;105;p15"/>
          <p:cNvSpPr/>
          <p:nvPr/>
        </p:nvSpPr>
        <p:spPr>
          <a:xfrm>
            <a:off x="571500" y="1162050"/>
            <a:ext cx="11049000" cy="2857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857250" y="3247132"/>
            <a:ext cx="313367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Conception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857250" y="3685282"/>
            <a:ext cx="29844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Développer un protocole asynchrone robuste entre deux PIC18F2550 pour le transfert de flux textuels.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4603700" y="3247132"/>
            <a:ext cx="313367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Optimisation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4603700" y="3685282"/>
            <a:ext cx="29844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Implémenter un affichage LCD 16x2 en mode 4-bits pour optimiser l'utilisation des lignes d'E/S du PORTB.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8350150" y="3247132"/>
            <a:ext cx="313367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Validation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8350150" y="3685282"/>
            <a:ext cx="29844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Valider l'intégralité de la chaîne logique sous l'environnement simulé Proteus ISIS avec com0com.</a:t>
            </a:r>
            <a:endParaRPr/>
          </a:p>
        </p:txBody>
      </p:sp>
      <p:pic>
        <p:nvPicPr>
          <p:cNvPr descr="image.png" id="112" name="Google Shape;11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" y="262800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03700" y="2628007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0150" y="2628007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833562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Architecture du Système</a:t>
            </a:r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571500" y="1162050"/>
            <a:ext cx="11049000" cy="2857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571500" y="2510879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Entités de Communication</a:t>
            </a:r>
            <a:endParaRPr/>
          </a:p>
        </p:txBody>
      </p:sp>
      <p:pic>
        <p:nvPicPr>
          <p:cNvPr descr="image.png" id="124" name="Google Shape;12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62700" y="1909762"/>
            <a:ext cx="51816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704850" y="2881401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▪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762000" y="2882354"/>
            <a:ext cx="51435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Émetteur Intelligent: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Intercepte les flux, valide les commandes et assure l'affichage local.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704850" y="3572857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▪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762000" y="3573809"/>
            <a:ext cx="51435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Récepteur Autonome: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Stocke les messages en RAM et gère le défilement dynamique distant.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704850" y="4264312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▪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762000" y="4265265"/>
            <a:ext cx="51435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Lien Physique: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Liaison série asynchrone (UART) configurée à 9600 bauds.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Affectation des Ressources Matérielles</a:t>
            </a: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571500" y="1162050"/>
            <a:ext cx="11049000" cy="2857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8" name="Google Shape;138;p17"/>
          <p:cNvGraphicFramePr/>
          <p:nvPr/>
        </p:nvGraphicFramePr>
        <p:xfrm>
          <a:off x="571500" y="25288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{84BAD7E1-3EAC-4560-9B80-7B1395F494D8}</a:tableStyleId>
              </a:tblPr>
              <a:tblGrid>
                <a:gridCol w="1454350"/>
                <a:gridCol w="3801075"/>
                <a:gridCol w="5793575"/>
              </a:tblGrid>
              <a:tr h="521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Module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Broches PIC18F2550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Rôle Fonctionnel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</a:tr>
              <a:tr h="521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USART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RC6/TX (Pin 17), RC7/RX (Pin 18)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Ligne de transmission et réception série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21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LCD Data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RB0 à RB3 (Pins 21-24)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Lignes de données de poids fort (D4 à D7)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21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LCD 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RB4 (Pin 25)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Sélection du registre: Commande (0) / Donnée (1)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21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LCD 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RB5 (Pin 26)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Impulsion de validation de l'écriture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9" name="Google Shape;139;p17"/>
          <p:cNvSpPr/>
          <p:nvPr/>
        </p:nvSpPr>
        <p:spPr>
          <a:xfrm>
            <a:off x="571500" y="3587055"/>
            <a:ext cx="1454348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2025848" y="3587055"/>
            <a:ext cx="380107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5826918" y="3587055"/>
            <a:ext cx="5793581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571500" y="4099470"/>
            <a:ext cx="1454348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2025848" y="4099470"/>
            <a:ext cx="380107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5826918" y="4099470"/>
            <a:ext cx="5793581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571500" y="4611885"/>
            <a:ext cx="1454348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2025848" y="4611885"/>
            <a:ext cx="380107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5826918" y="4611885"/>
            <a:ext cx="5793581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571500" y="5124301"/>
            <a:ext cx="1454348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2025848" y="5124301"/>
            <a:ext cx="380107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5826918" y="5124301"/>
            <a:ext cx="5793581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52950" y="3433018"/>
            <a:ext cx="7067550" cy="687139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Configuration Technique UART</a:t>
            </a:r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571500" y="1162050"/>
            <a:ext cx="11049000" cy="2857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571500" y="2895451"/>
            <a:ext cx="340995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9600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571500" y="4324201"/>
            <a:ext cx="34099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64748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Bauds de Vitesse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4552950" y="2474862"/>
            <a:ext cx="742092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Calcul du Registre SPBRG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4552950" y="2693937"/>
            <a:ext cx="70675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Pour une fréquence d'oscillation de 4 MHz et $BRGH = 1$ (Haute vitesse), l'initialisation logicielle repose sur :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4552950" y="4310657"/>
            <a:ext cx="70675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Cette valeur garantit une erreur de tramage minimale et une synchronisation parfaite des deux entités.</a:t>
            </a:r>
            <a:endParaRPr/>
          </a:p>
        </p:txBody>
      </p:sp>
      <p:pic>
        <p:nvPicPr>
          <p:cNvPr descr="image.png" id="164" name="Google Shape;16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91075" y="3623518"/>
            <a:ext cx="6638925" cy="3061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 txBox="1"/>
          <p:nvPr/>
        </p:nvSpPr>
        <p:spPr>
          <a:xfrm>
            <a:off x="571500" y="571500"/>
            <a:ext cx="52006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Cible: PIC18F2550</a:t>
            </a:r>
            <a:endParaRPr/>
          </a:p>
        </p:txBody>
      </p:sp>
      <p:sp>
        <p:nvSpPr>
          <p:cNvPr id="171" name="Google Shape;171;p19"/>
          <p:cNvSpPr/>
          <p:nvPr/>
        </p:nvSpPr>
        <p:spPr>
          <a:xfrm>
            <a:off x="571500" y="1162050"/>
            <a:ext cx="4953000" cy="2857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2" name="Google Shape;17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 txBox="1"/>
          <p:nvPr/>
        </p:nvSpPr>
        <p:spPr>
          <a:xfrm>
            <a:off x="571500" y="1190625"/>
            <a:ext cx="4953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Microcontrôleur 8 bits haute performance de Microchip, intégrant nativement :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714375" y="2033527"/>
            <a:ext cx="476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762000" y="2034480"/>
            <a:ext cx="4762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Architecture RISC optimisée ASM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714375" y="2307818"/>
            <a:ext cx="476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762000" y="2308770"/>
            <a:ext cx="4762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Module EUSART adressable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714375" y="2582108"/>
            <a:ext cx="476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762000" y="2583060"/>
            <a:ext cx="4762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RAM interne de 2 Ko pour bufferisation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714375" y="2856398"/>
            <a:ext cx="476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762000" y="2857351"/>
            <a:ext cx="4762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Technologie nanoWatt pour efficacité énergétique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03127"/>
            <a:ext cx="3555950" cy="26707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403127"/>
            <a:ext cx="3555950" cy="26707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403127"/>
            <a:ext cx="3555950" cy="267072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Environnement de Simulation Virtuelle</a:t>
            </a: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571500" y="1162050"/>
            <a:ext cx="11049000" cy="2857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857250" y="3384202"/>
            <a:ext cx="313367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Proteus ISIS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857250" y="3822352"/>
            <a:ext cx="29844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Utilisé pour l'émulation complète des PICs et des afficheurs HD44780 sans dérive thermique.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4603700" y="3384202"/>
            <a:ext cx="313367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Terminal Virtuel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4603700" y="3822352"/>
            <a:ext cx="29844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Interface d'injection de flux connectée au RX du PIC émetteur pour simuler la saisie utilisateur.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8350150" y="3384202"/>
            <a:ext cx="313367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com0com / COMPIM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8350150" y="3822352"/>
            <a:ext cx="29844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Émulation d'un câble Null-Modem virtuel transparent pour la liaison bidirectionnelle.</a:t>
            </a:r>
            <a:endParaRPr/>
          </a:p>
        </p:txBody>
      </p:sp>
      <p:pic>
        <p:nvPicPr>
          <p:cNvPr descr="image.png" id="198" name="Google Shape;198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" y="2765077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03700" y="2765077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0150" y="2765077"/>
            <a:ext cx="47625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Protocole de Saisie et Commandes</a:t>
            </a:r>
            <a:endParaRPr/>
          </a:p>
        </p:txBody>
      </p:sp>
      <p:sp>
        <p:nvSpPr>
          <p:cNvPr id="207" name="Google Shape;207;p21"/>
          <p:cNvSpPr/>
          <p:nvPr/>
        </p:nvSpPr>
        <p:spPr>
          <a:xfrm>
            <a:off x="571500" y="1162050"/>
            <a:ext cx="11049000" cy="2857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1381125" y="2610891"/>
            <a:ext cx="10239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Séquence d'effacement (&amp;&amp;) 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Déclenche la routine clear_lcd_and_reset, réinitialise les pointeurs RAM et vide l'afficheur local.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1381125" y="3349972"/>
            <a:ext cx="10239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Séquence de transmission (--) 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Clôt la phase de saisie et lance la boucle send_buffer vers le récepteur distant.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1381125" y="3814762"/>
            <a:ext cx="10239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Marqueur de fin (0x00) 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Envoi d'un caractère nul agissant comme rupture de boucle pour le traitement du récepteur.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1381125" y="4279552"/>
            <a:ext cx="10239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Analyseur Syntaxique 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Implémentation en Assembleur Microchip garantissant un temps de réponse en microsecondes.</a:t>
            </a:r>
            <a:endParaRPr/>
          </a:p>
        </p:txBody>
      </p:sp>
      <p:pic>
        <p:nvPicPr>
          <p:cNvPr descr="image.png" id="212" name="Google Shape;21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2648991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338807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38528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4317652"/>
            <a:ext cx="2571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34467"/>
            <a:ext cx="5238750" cy="3608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00750" y="1934467"/>
            <a:ext cx="5619750" cy="3608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750" y="2067817"/>
            <a:ext cx="504825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2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Afficheur LCD Alphanumérique</a:t>
            </a:r>
            <a:endParaRPr/>
          </a:p>
        </p:txBody>
      </p:sp>
      <p:sp>
        <p:nvSpPr>
          <p:cNvPr id="225" name="Google Shape;225;p22"/>
          <p:cNvSpPr/>
          <p:nvPr/>
        </p:nvSpPr>
        <p:spPr>
          <a:xfrm>
            <a:off x="571500" y="1162050"/>
            <a:ext cx="11049000" cy="2857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2"/>
          <p:cNvSpPr txBox="1"/>
          <p:nvPr/>
        </p:nvSpPr>
        <p:spPr>
          <a:xfrm>
            <a:off x="666750" y="4591942"/>
            <a:ext cx="530066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Interface LCD 16x2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666750" y="5030092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Utilisation du pilote HD44780 standard.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6286500" y="2258317"/>
            <a:ext cx="530066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Affichage Dynamique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6286500" y="2696467"/>
            <a:ext cx="50482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Le micrologiciel gère le décalage automatique des fenêtres d'affichage via les pointeurs indirects (FSR) pour permettre la visualisation de longs messages.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6286500" y="3662213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Mode 4-bits 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Économie de 4 broches E/S par rapport au mode standard 8-bits.</a:t>
            </a:r>
            <a:endParaRPr/>
          </a:p>
        </p:txBody>
      </p:sp>
      <p:pic>
        <p:nvPicPr>
          <p:cNvPr descr="image.png" id="231" name="Google Shape;231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2950" y="2144017"/>
            <a:ext cx="4895850" cy="222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6" name="Google Shape;23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3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 Technique</a:t>
            </a:r>
            <a:endParaRPr/>
          </a:p>
        </p:txBody>
      </p:sp>
      <p:sp>
        <p:nvSpPr>
          <p:cNvPr id="238" name="Google Shape;238;p23"/>
          <p:cNvSpPr/>
          <p:nvPr/>
        </p:nvSpPr>
        <p:spPr>
          <a:xfrm>
            <a:off x="571500" y="1162050"/>
            <a:ext cx="11049000" cy="2857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 txBox="1"/>
          <p:nvPr/>
        </p:nvSpPr>
        <p:spPr>
          <a:xfrm>
            <a:off x="1714500" y="2611040"/>
            <a:ext cx="8763000" cy="2026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La réalisation de ce projet a validé les choix algorithmiques et l'encapsulation des protocoles applicatifs, constituant une base solide pour le développement ultérieur.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571500" y="4999434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47556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— </a:t>
            </a:r>
            <a:r>
              <a:rPr i="1" lang="en-US" sz="1500">
                <a:solidFill>
                  <a:srgbClr val="47556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Cenderson TS STIC 1B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952500" y="2230040"/>
            <a:ext cx="571500" cy="1438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“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6" name="Google Shape;24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847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4"/>
          <p:cNvSpPr txBox="1"/>
          <p:nvPr/>
        </p:nvSpPr>
        <p:spPr>
          <a:xfrm>
            <a:off x="1370409" y="2315467"/>
            <a:ext cx="9451181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Merci de votre attention</a:t>
            </a:r>
            <a:endParaRPr/>
          </a:p>
        </p:txBody>
      </p:sp>
      <p:sp>
        <p:nvSpPr>
          <p:cNvPr id="248" name="Google Shape;248;p24"/>
          <p:cNvSpPr txBox="1"/>
          <p:nvPr/>
        </p:nvSpPr>
        <p:spPr>
          <a:xfrm>
            <a:off x="1595437" y="3467992"/>
            <a:ext cx="90011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Des questions sur l'implémentation ASM ?</a:t>
            </a:r>
            <a:endParaRPr/>
          </a:p>
        </p:txBody>
      </p:sp>
      <p:pic>
        <p:nvPicPr>
          <p:cNvPr descr="image.png" id="249" name="Google Shape;24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33862" y="4332833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5562" y="4332833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